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047750"/>
            <a:ext cx="8312363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 INMOBILIARIA CIASA · ESTRATEGIA DE MARCA Y CONTENIDO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3746302"/>
            <a:ext cx="4127056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700" b="1" spc="-26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8700" dirty="0"/>
          </a:p>
        </p:txBody>
      </p:sp>
      <p:sp>
        <p:nvSpPr>
          <p:cNvPr id="4" name="Text 2"/>
          <p:cNvSpPr/>
          <p:nvPr/>
        </p:nvSpPr>
        <p:spPr>
          <a:xfrm>
            <a:off x="952500" y="4895850"/>
            <a:ext cx="8312363" cy="1098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700" b="1" spc="-261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ruta a casa.</a:t>
            </a:r>
            <a:endParaRPr lang="en-US" sz="8700" dirty="0"/>
          </a:p>
        </p:txBody>
      </p:sp>
      <p:sp>
        <p:nvSpPr>
          <p:cNvPr id="5" name="Text 3"/>
          <p:cNvSpPr/>
          <p:nvPr/>
        </p:nvSpPr>
        <p:spPr>
          <a:xfrm>
            <a:off x="952500" y="8350250"/>
            <a:ext cx="162649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8629650"/>
            <a:ext cx="202098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— Junio 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9287" y="8350250"/>
            <a:ext cx="155674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659287" y="8629650"/>
            <a:ext cx="272493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Dominicano en el exterior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066856" y="8350250"/>
            <a:ext cx="14113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066856" y="8629650"/>
            <a:ext cx="203209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 Este, EE.UU.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975255" y="0"/>
            <a:ext cx="8312646" cy="102870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46755" y="8143875"/>
            <a:ext cx="3038573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proyectos verificados.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546755" y="8503841"/>
            <a:ext cx="4565883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regiones de República Dominicana.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546755" y="8863807"/>
            <a:ext cx="6153486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plataforma para invertir desde el exterior.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546755" y="9293622"/>
            <a:ext cx="7384735" cy="269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spc="21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 PROMESA DE MARCA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772111" y="419100"/>
            <a:ext cx="15443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LA MARCA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 DE MARCA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1903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 Inmobiliaria CIASA conecta a los dominicanos en el exterior con su patrimonio en casa.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4138414"/>
            <a:ext cx="14716125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3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proyectos verificados, 6 regiones, rango USD 97K–876K. Protección legal vía fideicomiso, financiamiento BanReservas, beneficios CONFOTUR (0% ITBIS, 15 años exento) y rendimientos de 7–21% anual según perfil.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5938639"/>
            <a:ext cx="3919537" cy="1905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6129139"/>
            <a:ext cx="36054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57300" y="7373739"/>
            <a:ext cx="360545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#1B3A5C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38738" y="5938639"/>
            <a:ext cx="3919537" cy="19050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5348288" y="6129139"/>
            <a:ext cx="36054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BLUE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48288" y="7373739"/>
            <a:ext cx="360545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#5B9BD5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29725" y="5938639"/>
            <a:ext cx="3919537" cy="1905000"/>
          </a:xfrm>
          <a:prstGeom prst="rect">
            <a:avLst/>
          </a:prstGeom>
          <a:solidFill>
            <a:srgbClr val="EA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9439275" y="6129139"/>
            <a:ext cx="36054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39275" y="7373739"/>
            <a:ext cx="360545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B3A5C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#EAF0F5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320713" y="5938639"/>
            <a:ext cx="3919537" cy="1905000"/>
          </a:xfrm>
          <a:prstGeom prst="rect">
            <a:avLst/>
          </a:prstGeom>
          <a:solidFill>
            <a:srgbClr val="7DB33A"/>
          </a:solidFill>
          <a:ln/>
        </p:spPr>
      </p:sp>
      <p:sp>
        <p:nvSpPr>
          <p:cNvPr id="17" name="Text 15"/>
          <p:cNvSpPr/>
          <p:nvPr/>
        </p:nvSpPr>
        <p:spPr>
          <a:xfrm>
            <a:off x="13530263" y="6129139"/>
            <a:ext cx="36054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CTA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530263" y="7373739"/>
            <a:ext cx="360545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#7DB33A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47750" y="9690100"/>
            <a:ext cx="180290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 · INTER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71697" y="9690100"/>
            <a:ext cx="57356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TRILOGÍA CIASA · EL REGRESO · 27 LLAVES · LA PRIMERA NOCHE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0008"/>
            <a:ext cx="16678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01 / 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4799608"/>
            <a:ext cx="15697200" cy="1449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0" b="1" spc="-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</a:t>
            </a:r>
            <a:endParaRPr lang="en-US" sz="11700" dirty="0"/>
          </a:p>
        </p:txBody>
      </p:sp>
      <p:sp>
        <p:nvSpPr>
          <p:cNvPr id="4" name="Shape 2"/>
          <p:cNvSpPr/>
          <p:nvPr/>
        </p:nvSpPr>
        <p:spPr>
          <a:xfrm>
            <a:off x="1047750" y="9429750"/>
            <a:ext cx="26670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12727305" y="8740378"/>
            <a:ext cx="4512945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Dominicano en el exterior, 35–55 años, costa este de EE.UU., ingreso familiar USD 80K–300K+.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694422" y="419100"/>
            <a:ext cx="162202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AUDIENCIA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COMPRA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128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Dominicano en el exterior. 35–55 años. Costa este de EE.UU.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3516709"/>
            <a:ext cx="8082558" cy="5970191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821509"/>
            <a:ext cx="142448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RETRATO ·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06345" y="3821509"/>
            <a:ext cx="179536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PENDIENTE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04950" y="8197850"/>
            <a:ext cx="7168158" cy="831850"/>
          </a:xfrm>
          <a:prstGeom prst="rect">
            <a:avLst/>
          </a:prstGeom>
          <a:ln w="6350">
            <a:solidFill>
              <a:srgbClr val="FFFFFF">
                <a:alpha val="40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682750" y="8318500"/>
            <a:ext cx="702760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FOTO EDITORIAL — DOMINICANO(A) 40–50 AÑOS, NYC TRISTATE O BOSTON, TONO HONESTO, NO ASPIRACIONAL FAKE ]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892308" y="3516709"/>
            <a:ext cx="3502521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9892308" y="3745309"/>
            <a:ext cx="360759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92308" y="4069159"/>
            <a:ext cx="106461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892308" y="4530725"/>
            <a:ext cx="3607597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29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40–50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737729" y="3516709"/>
            <a:ext cx="3502521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37729" y="3745309"/>
            <a:ext cx="360759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737729" y="4069159"/>
            <a:ext cx="236517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· Boston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3737729" y="4530725"/>
            <a:ext cx="3607597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29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· Orlando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892308" y="5027911"/>
            <a:ext cx="3502521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9892308" y="5256511"/>
            <a:ext cx="360759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FAMILIAR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92308" y="5580361"/>
            <a:ext cx="284246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80K–300K+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9892308" y="6041926"/>
            <a:ext cx="3607597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29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media a media-alta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737729" y="5027911"/>
            <a:ext cx="3502521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3737729" y="5256511"/>
            <a:ext cx="360759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37729" y="5580361"/>
            <a:ext cx="195143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Post-1980s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3737729" y="6041926"/>
            <a:ext cx="3607597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29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subsegmento 1.5-gen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892308" y="6539111"/>
            <a:ext cx="3502521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9892308" y="6767711"/>
            <a:ext cx="360759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ESTATUS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92308" y="7091561"/>
            <a:ext cx="313371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Ciudadano US/CA</a:t>
            </a:r>
            <a:endParaRPr lang="en-US" sz="2850" dirty="0"/>
          </a:p>
        </p:txBody>
      </p:sp>
      <p:sp>
        <p:nvSpPr>
          <p:cNvPr id="30" name="Text 28"/>
          <p:cNvSpPr/>
          <p:nvPr/>
        </p:nvSpPr>
        <p:spPr>
          <a:xfrm>
            <a:off x="9892308" y="7553127"/>
            <a:ext cx="3607597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29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origen dominicano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3737729" y="6539111"/>
            <a:ext cx="3502521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13737729" y="6767711"/>
            <a:ext cx="360759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3737729" y="7091561"/>
            <a:ext cx="332921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· FB · WhatsApp</a:t>
            </a:r>
            <a:endParaRPr lang="en-US" sz="2850" dirty="0"/>
          </a:p>
        </p:txBody>
      </p:sp>
      <p:sp>
        <p:nvSpPr>
          <p:cNvPr id="34" name="Text 32"/>
          <p:cNvSpPr/>
          <p:nvPr/>
        </p:nvSpPr>
        <p:spPr>
          <a:xfrm>
            <a:off x="13737729" y="7553127"/>
            <a:ext cx="3607597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29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LinkedIn · X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47750" y="9690100"/>
            <a:ext cx="189617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AUDIENCIA PRIMARIA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555438" y="9690100"/>
            <a:ext cx="48253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SECUNDARIA · DR RETIREE · TERCIARIA · LATAM YIELD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694422" y="419100"/>
            <a:ext cx="162202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AUDIENCIA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DOLOR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pesa cuando vives lejos.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2895005"/>
            <a:ext cx="25400" cy="200679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1377950" y="2971205"/>
            <a:ext cx="77047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0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Culpa por la remesa de consumo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7950" y="3326805"/>
            <a:ext cx="7704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mensualmente sin que ese dinero se convierta en inversión productiva.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429750" y="2895005"/>
            <a:ext cx="25400" cy="200679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9759951" y="2971205"/>
            <a:ext cx="77047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0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Cuidar padres a distancia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59951" y="3326805"/>
            <a:ext cx="7704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imposibilidad de estar presente y la ansiedad que eso genera.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7750" y="5187553"/>
            <a:ext cx="25400" cy="200679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1377950" y="5263753"/>
            <a:ext cx="77047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0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Miedo al fraude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77950" y="5619354"/>
            <a:ext cx="7704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legal lejos de casa: ITBIS, fideicomiso, escrow, deslinde.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29750" y="5187553"/>
            <a:ext cx="25400" cy="200679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9759951" y="5263753"/>
            <a:ext cx="77047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0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pierna en cada lado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59951" y="5619354"/>
            <a:ext cx="7704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Nostalgia no resuelta, sensación de pertenencia parcial.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47750" y="7480102"/>
            <a:ext cx="25400" cy="200679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Text 17"/>
          <p:cNvSpPr/>
          <p:nvPr/>
        </p:nvSpPr>
        <p:spPr>
          <a:xfrm>
            <a:off x="1377950" y="7556302"/>
            <a:ext cx="77047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0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Corredores opacos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7950" y="7911902"/>
            <a:ext cx="7704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Cansancio de tratar con vendedores tradicionales sin documentación clara.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429750" y="7480102"/>
            <a:ext cx="25400" cy="200679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2" name="Text 20"/>
          <p:cNvSpPr/>
          <p:nvPr/>
        </p:nvSpPr>
        <p:spPr>
          <a:xfrm>
            <a:off x="9759951" y="7556302"/>
            <a:ext cx="77047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0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sin ver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759951" y="7911902"/>
            <a:ext cx="7704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Ansiedad de elegir mal una propiedad sin poder visitarla en persona.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47750" y="9690100"/>
            <a:ext cx="468402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VALIDADOS CON RESEARCH DE AUDIENCIA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12763" y="9690100"/>
            <a:ext cx="414831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REEMPLAZAN TODA COMUNICACIÓN GENÉRICA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694422" y="419100"/>
            <a:ext cx="162202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AUDIENCIA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80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047750" y="2743200"/>
            <a:ext cx="14716125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spc="-4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recomendación de un dominicano de confianza pesa más que una pauta paga. Responden por WhatsApp en minutos, por email en días.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519678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CONDUCTA VERIFICADA — RESEARCH DE AUDIENCIA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47750" y="9690100"/>
            <a:ext cx="421770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IMPLICACIÓN · WHATSAPP COMO CTA PRIMARIO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43013" y="9690100"/>
            <a:ext cx="33961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RESPUESTA META &lt; 15 MIN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694422" y="419100"/>
            <a:ext cx="162202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AUDIENCIA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COMPETITIVO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128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frentes simultáneos: brokers locales, marketplaces y yield alterno.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3827859"/>
            <a:ext cx="5219700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516709"/>
            <a:ext cx="537629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 TRADICIONALES DR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7750" y="448825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13265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RE/MAX Dominicana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47750" y="496450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0890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21 RD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544075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08515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Keller Williams DR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591700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56140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Punta Cana Real Estate Group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639325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603765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Cana Direct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47750" y="651390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Cana · Prime Punta Cana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534150" y="3827859"/>
            <a:ext cx="5219700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4150" y="3516709"/>
            <a:ext cx="537629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MARKETPLACES &amp; LISTINGS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4150" y="448825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2" name="Text 20"/>
          <p:cNvSpPr/>
          <p:nvPr/>
        </p:nvSpPr>
        <p:spPr>
          <a:xfrm>
            <a:off x="6534150" y="413265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Corotos Inmobiliaria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534150" y="496450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4" name="Text 22"/>
          <p:cNvSpPr/>
          <p:nvPr/>
        </p:nvSpPr>
        <p:spPr>
          <a:xfrm>
            <a:off x="6534150" y="460890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Supercasas.com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534150" y="508515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Volumen alto, calidad de listing variable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2020550" y="3827859"/>
            <a:ext cx="5219700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12020550" y="3516709"/>
            <a:ext cx="537629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 INDIRECTA · CAPITAL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20550" y="448825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9" name="Text 27"/>
          <p:cNvSpPr/>
          <p:nvPr/>
        </p:nvSpPr>
        <p:spPr>
          <a:xfrm>
            <a:off x="12020550" y="413265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/ Vrbo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2020550" y="496450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1" name="Text 29"/>
          <p:cNvSpPr/>
          <p:nvPr/>
        </p:nvSpPr>
        <p:spPr>
          <a:xfrm>
            <a:off x="12020550" y="460890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Pacaso · Arrived (fraccional)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2020550" y="5440759"/>
            <a:ext cx="52197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3" name="Text 31"/>
          <p:cNvSpPr/>
          <p:nvPr/>
        </p:nvSpPr>
        <p:spPr>
          <a:xfrm>
            <a:off x="12020550" y="5085159"/>
            <a:ext cx="53762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Real Estate tradicional · yield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020550" y="5561409"/>
            <a:ext cx="5376291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Compiten por el mismo bolsillo, no por el mismo activo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47750" y="9690100"/>
            <a:ext cx="56714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DIFERENCIADOR CIASA · FIDEICOMISO + CONFOTUR EXPLICADO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263365" y="9690100"/>
            <a:ext cx="409619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PARAGUAS · 27 PROYECTOS CURADOS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0008"/>
            <a:ext cx="16678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02 / 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4799608"/>
            <a:ext cx="15697200" cy="1449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0" b="1" spc="-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 Indicadores.</a:t>
            </a:r>
            <a:endParaRPr lang="en-US" sz="11700" dirty="0"/>
          </a:p>
        </p:txBody>
      </p:sp>
      <p:sp>
        <p:nvSpPr>
          <p:cNvPr id="4" name="Shape 2"/>
          <p:cNvSpPr/>
          <p:nvPr/>
        </p:nvSpPr>
        <p:spPr>
          <a:xfrm>
            <a:off x="1047750" y="9429750"/>
            <a:ext cx="26670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12727305" y="8740378"/>
            <a:ext cx="4512945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referencia para inversión inmobiliaria de dominicanos en el exterior, costa este.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122948" y="419100"/>
            <a:ext cx="119350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METAS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PRIMARIA · Q2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128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Convertirnos en la plataforma de referencia y operar a escala medible.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47750" y="5396905"/>
            <a:ext cx="5193157" cy="147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600" b="1" spc="-50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pPr algn="l" indent="0" marL="0">
              <a:lnSpc>
                <a:spcPct val="90000"/>
              </a:lnSpc>
              <a:buNone/>
            </a:pPr>
            <a:r>
              <a:rPr lang="en-US" sz="4800" spc="-50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600" dirty="0"/>
          </a:p>
        </p:txBody>
      </p:sp>
      <p:sp>
        <p:nvSpPr>
          <p:cNvPr id="7" name="Text 5"/>
          <p:cNvSpPr/>
          <p:nvPr/>
        </p:nvSpPr>
        <p:spPr>
          <a:xfrm>
            <a:off x="1047750" y="6989465"/>
            <a:ext cx="392430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cualificados al mes durante el trimestre.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3050" y="5551190"/>
            <a:ext cx="5193157" cy="147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600" b="1" spc="-50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&lt;40</a:t>
            </a:r>
            <a:pPr algn="l" indent="0" marL="0">
              <a:lnSpc>
                <a:spcPct val="90000"/>
              </a:lnSpc>
              <a:buNone/>
            </a:pPr>
            <a:r>
              <a:rPr lang="en-US" sz="4800" spc="-50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2600" dirty="0"/>
          </a:p>
        </p:txBody>
      </p:sp>
      <p:sp>
        <p:nvSpPr>
          <p:cNvPr id="9" name="Text 7"/>
          <p:cNvSpPr/>
          <p:nvPr/>
        </p:nvSpPr>
        <p:spPr>
          <a:xfrm>
            <a:off x="6623050" y="7143750"/>
            <a:ext cx="3924300" cy="346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por lead máximo objetivo.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8351" y="5396905"/>
            <a:ext cx="5193157" cy="147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600" b="1" spc="-50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ct val="90000"/>
              </a:lnSpc>
              <a:buNone/>
            </a:pPr>
            <a:r>
              <a:rPr lang="en-US" sz="4800" spc="-50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2600" dirty="0"/>
          </a:p>
        </p:txBody>
      </p:sp>
      <p:sp>
        <p:nvSpPr>
          <p:cNvPr id="11" name="Text 9"/>
          <p:cNvSpPr/>
          <p:nvPr/>
        </p:nvSpPr>
        <p:spPr>
          <a:xfrm>
            <a:off x="12198351" y="6989465"/>
            <a:ext cx="392430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mínima de conversión lead → visita virtual.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9690100"/>
            <a:ext cx="583218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GEOGRÁFICO · NYC TRISTATE · BOSTON · MIAMI · ORLANDO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457" y="9690100"/>
            <a:ext cx="297030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TRIMESTRE · ABRIL —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122948" y="419100"/>
            <a:ext cx="119350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METAS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DEL TRIMESTRE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 métricas. Una sola lectura semanal.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3196630"/>
            <a:ext cx="8905875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895005"/>
            <a:ext cx="8753951" cy="206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53625" y="3196630"/>
            <a:ext cx="7286625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3175" y="2895005"/>
            <a:ext cx="7086124" cy="206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Q2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7750" y="371733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3310930"/>
            <a:ext cx="8753951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cualificados / mes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53625" y="371733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3175" y="3310930"/>
            <a:ext cx="708612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421898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381893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por lead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53625" y="421898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3175" y="381893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USD 40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472063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432058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promedio en pauta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53625" y="472063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3175" y="432058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522228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" y="482223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 orgánico · IG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53625" y="522228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3175" y="482223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4%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572393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7" name="Text 25"/>
          <p:cNvSpPr/>
          <p:nvPr/>
        </p:nvSpPr>
        <p:spPr>
          <a:xfrm>
            <a:off x="1257300" y="532388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mensual total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953625" y="572393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3175" y="532388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250K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7750" y="622558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1" name="Text 29"/>
          <p:cNvSpPr/>
          <p:nvPr/>
        </p:nvSpPr>
        <p:spPr>
          <a:xfrm>
            <a:off x="1257300" y="582553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 web desde social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53625" y="622558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3175" y="582553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8K / mes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47750" y="672723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" y="632718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→ visita virtual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953625" y="672723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7" name="Text 35"/>
          <p:cNvSpPr/>
          <p:nvPr/>
        </p:nvSpPr>
        <p:spPr>
          <a:xfrm>
            <a:off x="10163175" y="632718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47750" y="722888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9" name="Text 37"/>
          <p:cNvSpPr/>
          <p:nvPr/>
        </p:nvSpPr>
        <p:spPr>
          <a:xfrm>
            <a:off x="1257300" y="682883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→ cierre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953625" y="722888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41" name="Text 39"/>
          <p:cNvSpPr/>
          <p:nvPr/>
        </p:nvSpPr>
        <p:spPr>
          <a:xfrm>
            <a:off x="10163175" y="682883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8%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47750" y="773053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43" name="Text 41"/>
          <p:cNvSpPr/>
          <p:nvPr/>
        </p:nvSpPr>
        <p:spPr>
          <a:xfrm>
            <a:off x="1257300" y="733048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dominicano en el exterior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953625" y="773053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45" name="Text 43"/>
          <p:cNvSpPr/>
          <p:nvPr/>
        </p:nvSpPr>
        <p:spPr>
          <a:xfrm>
            <a:off x="10163175" y="733048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USD 800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47750" y="823218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47" name="Text 45"/>
          <p:cNvSpPr/>
          <p:nvPr/>
        </p:nvSpPr>
        <p:spPr>
          <a:xfrm>
            <a:off x="1257300" y="783213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WhatsApp desde CTAs sociales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953625" y="823218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49" name="Text 47"/>
          <p:cNvSpPr/>
          <p:nvPr/>
        </p:nvSpPr>
        <p:spPr>
          <a:xfrm>
            <a:off x="10163175" y="783213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/ mes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047750" y="8733830"/>
            <a:ext cx="890587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51" name="Text 49"/>
          <p:cNvSpPr/>
          <p:nvPr/>
        </p:nvSpPr>
        <p:spPr>
          <a:xfrm>
            <a:off x="1257300" y="8333780"/>
            <a:ext cx="8753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primera respuesta WhatsApp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953625" y="8733830"/>
            <a:ext cx="7286625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53" name="Text 51"/>
          <p:cNvSpPr/>
          <p:nvPr/>
        </p:nvSpPr>
        <p:spPr>
          <a:xfrm>
            <a:off x="10163175" y="8333780"/>
            <a:ext cx="7086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 min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57300" y="8835430"/>
            <a:ext cx="8753951" cy="3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Escaneos de QR por región / proyecto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163175" y="8835430"/>
            <a:ext cx="7086124" cy="34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activo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47750" y="9690100"/>
            <a:ext cx="32856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 LUNES 10:00 EST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3074154" y="9690100"/>
            <a:ext cx="429107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COMPARTIDO EQUIPO + DIRECCIÓN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0008"/>
            <a:ext cx="16678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03 / 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4799608"/>
            <a:ext cx="15697200" cy="1449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0" b="1" spc="-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de Contenido.</a:t>
            </a:r>
            <a:endParaRPr lang="en-US" sz="11700" dirty="0"/>
          </a:p>
        </p:txBody>
      </p:sp>
      <p:sp>
        <p:nvSpPr>
          <p:cNvPr id="4" name="Shape 2"/>
          <p:cNvSpPr/>
          <p:nvPr/>
        </p:nvSpPr>
        <p:spPr>
          <a:xfrm>
            <a:off x="1047750" y="9429750"/>
            <a:ext cx="26670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12727305" y="9033669"/>
            <a:ext cx="4512945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pilares. Una distribución clara del peso editorial del trimestre.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935524" y="419100"/>
            <a:ext cx="138092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PILARES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EDITORIAL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pilares. Cien por ciento del calendario.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36189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895005"/>
            <a:ext cx="16192500" cy="1905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1140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4550" y="31140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 y Legado Familiar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744450" y="30696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EMOCIONAL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259050" y="30664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43301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8252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14550" y="38252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Inteligente y Transparente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44450" y="37808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· CONFOTUR · FIDEICOMISO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259050" y="37776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7750" y="50413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45364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4550" y="45364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y Orgullo Dominicano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44450" y="44920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· TESTIMONIOS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259050" y="44888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47750" y="57525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52476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14550" y="52476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Regreso a Casa con Autonomía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744450" y="52032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ASPIRACIÓN · TRILOGÍA CIASA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259050" y="52000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47750" y="64637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59588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114550" y="59588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Práctica y Soluciones Digitales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744450" y="59144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MEDIO · HOW-TO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5259050" y="59112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47750" y="71749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66700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114550" y="66700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Verificados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2744450" y="66256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SPOTLIGHTS · TOURS · ROI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5259050" y="66224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047750" y="78861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38" name="Text 36"/>
          <p:cNvSpPr/>
          <p:nvPr/>
        </p:nvSpPr>
        <p:spPr>
          <a:xfrm>
            <a:off x="1047750" y="73812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114550" y="73812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en el Exterior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2744450" y="73368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· EVENTOS · CULTURA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5259050" y="73336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47750" y="859730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8092480"/>
            <a:ext cx="838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114550" y="8092480"/>
            <a:ext cx="106348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&amp; Detrás de Cámaras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2744450" y="8048030"/>
            <a:ext cx="236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ASPIRACIONAL · TRILOGÍA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5259050" y="8044855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047750" y="9067800"/>
            <a:ext cx="16192500" cy="419100"/>
          </a:xfrm>
          <a:prstGeom prst="rect">
            <a:avLst/>
          </a:prstGeom>
          <a:ln w="6350">
            <a:solidFill>
              <a:srgbClr val="C9D6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4100" y="9074150"/>
            <a:ext cx="2426891" cy="406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9" name="Shape 47"/>
          <p:cNvSpPr/>
          <p:nvPr/>
        </p:nvSpPr>
        <p:spPr>
          <a:xfrm>
            <a:off x="3474641" y="9074150"/>
            <a:ext cx="9525" cy="406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16000" y="9074150"/>
            <a:ext cx="2496741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· 15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3480991" y="9074150"/>
            <a:ext cx="2426891" cy="406400"/>
          </a:xfrm>
          <a:prstGeom prst="rect">
            <a:avLst/>
          </a:prstGeom>
          <a:solidFill>
            <a:srgbClr val="2C5278"/>
          </a:solidFill>
          <a:ln/>
        </p:spPr>
      </p:sp>
      <p:sp>
        <p:nvSpPr>
          <p:cNvPr id="52" name="Shape 50"/>
          <p:cNvSpPr/>
          <p:nvPr/>
        </p:nvSpPr>
        <p:spPr>
          <a:xfrm>
            <a:off x="5901531" y="9074150"/>
            <a:ext cx="9525" cy="406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442891" y="9074150"/>
            <a:ext cx="2496741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 · 15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5907881" y="9074150"/>
            <a:ext cx="2426891" cy="406400"/>
          </a:xfrm>
          <a:prstGeom prst="rect">
            <a:avLst/>
          </a:prstGeom>
          <a:solidFill>
            <a:srgbClr val="3E6A93"/>
          </a:solidFill>
          <a:ln/>
        </p:spPr>
      </p:sp>
      <p:sp>
        <p:nvSpPr>
          <p:cNvPr id="55" name="Shape 53"/>
          <p:cNvSpPr/>
          <p:nvPr/>
        </p:nvSpPr>
        <p:spPr>
          <a:xfrm>
            <a:off x="8328422" y="9074150"/>
            <a:ext cx="9525" cy="406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869781" y="9074150"/>
            <a:ext cx="2496741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 · 15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334772" y="9074150"/>
            <a:ext cx="3235921" cy="4064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64343" y="9074150"/>
            <a:ext cx="9525" cy="406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286233" y="9074150"/>
            <a:ext cx="3326648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 · 20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11570693" y="9074150"/>
            <a:ext cx="1617960" cy="406400"/>
          </a:xfrm>
          <a:prstGeom prst="rect">
            <a:avLst/>
          </a:prstGeom>
          <a:solidFill>
            <a:srgbClr val="7DB33A"/>
          </a:solidFill>
          <a:ln/>
        </p:spPr>
      </p:sp>
      <p:sp>
        <p:nvSpPr>
          <p:cNvPr id="61" name="Shape 59"/>
          <p:cNvSpPr/>
          <p:nvPr/>
        </p:nvSpPr>
        <p:spPr>
          <a:xfrm>
            <a:off x="13182303" y="9074150"/>
            <a:ext cx="9525" cy="406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1532593" y="9074150"/>
            <a:ext cx="168781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 · 10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3188653" y="9074150"/>
            <a:ext cx="1617960" cy="406400"/>
          </a:xfrm>
          <a:prstGeom prst="rect">
            <a:avLst/>
          </a:prstGeom>
          <a:solidFill>
            <a:srgbClr val="95C24F"/>
          </a:solidFill>
          <a:ln/>
        </p:spPr>
      </p:sp>
      <p:sp>
        <p:nvSpPr>
          <p:cNvPr id="64" name="Shape 62"/>
          <p:cNvSpPr/>
          <p:nvPr/>
        </p:nvSpPr>
        <p:spPr>
          <a:xfrm>
            <a:off x="14800263" y="9074150"/>
            <a:ext cx="9525" cy="406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3150553" y="9074150"/>
            <a:ext cx="168781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 · 10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14806612" y="9074150"/>
            <a:ext cx="1617960" cy="406400"/>
          </a:xfrm>
          <a:prstGeom prst="rect">
            <a:avLst/>
          </a:prstGeom>
          <a:solidFill>
            <a:srgbClr val="B0CF7A"/>
          </a:solidFill>
          <a:ln/>
        </p:spPr>
      </p:sp>
      <p:sp>
        <p:nvSpPr>
          <p:cNvPr id="67" name="Shape 65"/>
          <p:cNvSpPr/>
          <p:nvPr/>
        </p:nvSpPr>
        <p:spPr>
          <a:xfrm>
            <a:off x="16418223" y="9074150"/>
            <a:ext cx="9525" cy="406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4768512" y="9074150"/>
            <a:ext cx="168781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 · 10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16424573" y="9074150"/>
            <a:ext cx="808930" cy="406400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70" name="Text 68"/>
          <p:cNvSpPr/>
          <p:nvPr/>
        </p:nvSpPr>
        <p:spPr>
          <a:xfrm>
            <a:off x="16386473" y="9074150"/>
            <a:ext cx="88513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 · 5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1047750" y="9690100"/>
            <a:ext cx="707498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· ASPIRACIÓN + TRANSPARENCIA LEGAL DOMINAN EL PESO EDITORIAL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3853320" y="9690100"/>
            <a:ext cx="348853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NARRATIVO + UTILITY + PRODUCTO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354598" y="419100"/>
            <a:ext cx="196185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PILARES · P04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83250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04 · 20% DEL MIX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46200"/>
            <a:ext cx="832503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regreso a casa con autonomía.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47750" y="3022600"/>
            <a:ext cx="6867525" cy="18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pilar más pesado del trimestre. Aspiración del retiro en RD con independencia financiera, capacidad de cuidar a los padres mayores sin la carga de la remesa de consumo, y dignidad del regreso. Narrativa emocional honesta — no cliché turístico.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8953500"/>
            <a:ext cx="5126435" cy="533400"/>
          </a:xfrm>
          <a:prstGeom prst="rect">
            <a:avLst/>
          </a:prstGeom>
          <a:ln w="1905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6350" y="9105900"/>
            <a:ext cx="48230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TRILOGÍA CIASA · VEHÍCULO PRINCIPAL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892308" y="914400"/>
            <a:ext cx="7347942" cy="85725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17759" y="1377950"/>
            <a:ext cx="66919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&amp; EJECUCIONES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57739" y="1822450"/>
            <a:ext cx="6733262" cy="328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de la Trilogía CIASA — El Regreso, 27 Llaves, La Primera Noche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Testimonios "Mi primera noche en casa"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fotográficas NYC → DR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Carruseles "Deja de enviar remesas de consumo"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 Live · planificación de retiro en 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9690100"/>
            <a:ext cx="357060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TONO · HONESTO, SOBRIO, IDENTITARIO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774018" y="9690100"/>
            <a:ext cx="460022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CLICHÉ TURÍSTICO · SÍ DOMINICANO AUTÉNTICO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354598" y="419100"/>
            <a:ext cx="196185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PILARES · P02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83250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 · 15% DEL MIX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346200"/>
            <a:ext cx="832503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inteligente y transparente.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47750" y="3022600"/>
            <a:ext cx="6867525" cy="18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Desmitificar CONFOTUR, fideicomiso BanReservas, contratos y matemática real US vs RD. Mitigar el miedo al fraude con datos verificables. Posicionar la transparencia como diferenciador estructural — no como mensaje publicitario.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8953500"/>
            <a:ext cx="6268244" cy="533400"/>
          </a:xfrm>
          <a:prstGeom prst="rect">
            <a:avLst/>
          </a:prstGeom>
          <a:ln w="1905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6350" y="9105900"/>
            <a:ext cx="59990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CONFOTUR EXPLICADO · FIDEICOMISO BANRESERVAS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892308" y="914400"/>
            <a:ext cx="7347942" cy="85725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17759" y="1377950"/>
            <a:ext cx="66919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&amp; EJECUCIONES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57739" y="1822450"/>
            <a:ext cx="6733262" cy="297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Carruseles "CONFOTUR en 5 slides"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legal y entrevistas con notarios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"¿Qué pasa si el proyecto se atrasa?"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Calculadoras "Cómo $225K generan $27K/año"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Comparativas tasa BanReservas vs US mortgage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9690100"/>
            <a:ext cx="324245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CONCRETOS, NO GENÉRICOS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8977" y="9690100"/>
            <a:ext cx="362691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 DICE EL CONTRATO, NO NOSOTROS."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730710" y="419100"/>
            <a:ext cx="25857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PILARES · P01 + P03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01 + 03 · 30% DEL MIX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 familiar y orgullo dominicano.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2895005"/>
            <a:ext cx="7715250" cy="6591895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7000" y="3263305"/>
            <a:ext cx="722725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· 15% · PATRIMONIO Y LEGADO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7000" y="3612555"/>
            <a:ext cx="7227253" cy="37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casa en RD como cimiento del futuro familiar.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97000" y="4119265"/>
            <a:ext cx="7227253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tangible que trasciende generaciones. Conecta el deseo de dejar herencia con la decisión concreta de invertir hoy.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23645" y="4991596"/>
            <a:ext cx="7266305" cy="1726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"Más que una casa, un legado"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de tres generaciones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"Lo que mis abuelos no pudieron"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0" y="2895005"/>
            <a:ext cx="7715250" cy="6591895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4251" y="3263305"/>
            <a:ext cx="722725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 · 15% · CONEXIÓN Y ORGULLO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4251" y="3612555"/>
            <a:ext cx="7227253" cy="37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dominicano a dominicano.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74251" y="4119265"/>
            <a:ext cx="7227253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cultural y comunidad de dominicanos en el exterior. La nostalgia como motivación, no como fragilidad.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00896" y="4991596"/>
            <a:ext cx="7266305" cy="1726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Testimonios verificados — 6+ en el trimestre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Colaboraciones con creadores dominicanos</a:t>
            </a:r>
            <a:endParaRPr lang="en-US" sz="1950" dirty="0"/>
          </a:p>
          <a:p>
            <a:pPr algn="l" marL="173355" indent="-173355">
              <a:lnSpc>
                <a:spcPct val="13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"¿Qué significa ser dominicano en el exterior?"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7750" y="9690100"/>
            <a:ext cx="405807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· PRIMERA PERSONA, SEGUNDO NOMBRE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48408" y="9690100"/>
            <a:ext cx="308159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DOMINICANO AUTÉNTICO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659373" y="419100"/>
            <a:ext cx="265830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PILARES · P05 — P08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OPERATIVOS · 35% DEL MIX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práctica, proyectos, comunidad y visión.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2895005"/>
            <a:ext cx="3819525" cy="6591895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7000" y="3263305"/>
            <a:ext cx="32146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 · 10%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7000" y="3612555"/>
            <a:ext cx="3214656" cy="37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Práctica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97000" y="4119265"/>
            <a:ext cx="3214656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How-to de gestión 100% remota, papeleo internacional y CTA WhatsApp.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72075" y="2895005"/>
            <a:ext cx="3819525" cy="6591895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1325" y="3263305"/>
            <a:ext cx="32146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 · 10%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21325" y="3612555"/>
            <a:ext cx="3214656" cy="37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Verificados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21325" y="4119265"/>
            <a:ext cx="3214656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Spotlights de los 27 proyectos · tours virtuales · ROI proyectado por código y región.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96400" y="2895005"/>
            <a:ext cx="3819525" cy="6591895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5650" y="3263305"/>
            <a:ext cx="32146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 · 10%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45650" y="3612555"/>
            <a:ext cx="3214656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en el Exterior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45650" y="4454525"/>
            <a:ext cx="3214656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Bodegas, cargo, remesas, eventos en NYC, Boston y Miami · creadores dominicanos.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420725" y="2895005"/>
            <a:ext cx="3819525" cy="6591895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69976" y="3263305"/>
            <a:ext cx="32146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 · 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69976" y="3612555"/>
            <a:ext cx="3214656" cy="37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&amp; BTS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69976" y="4119265"/>
            <a:ext cx="3214656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Trilogía CIASA — making-of, mood boards, entrevistas con dirección.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7750" y="9690100"/>
            <a:ext cx="518569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UTILITY + PRODUCTO + CULTURA + ASPIRACIONAL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390265" y="9690100"/>
            <a:ext cx="396548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EL FUNNEL COMPLETO DE LA MARCA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0008"/>
            <a:ext cx="16678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04 / 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4799608"/>
            <a:ext cx="15697200" cy="1449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0" b="1" spc="-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Tono &amp; Cadencia.</a:t>
            </a:r>
            <a:endParaRPr lang="en-US" sz="11700" dirty="0"/>
          </a:p>
        </p:txBody>
      </p:sp>
      <p:sp>
        <p:nvSpPr>
          <p:cNvPr id="4" name="Shape 2"/>
          <p:cNvSpPr/>
          <p:nvPr/>
        </p:nvSpPr>
        <p:spPr>
          <a:xfrm>
            <a:off x="1047750" y="9429750"/>
            <a:ext cx="26670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12727305" y="9033669"/>
            <a:ext cx="4512945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rasgos centrales. Cinco plataformas. Una sola voz.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910495" y="419100"/>
            <a:ext cx="240595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TONO &amp; CADENCIA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DE PUBLICACIÓN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semana tipo del trimestre.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3123605"/>
            <a:ext cx="3055541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0800" y="3434755"/>
            <a:ext cx="258564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20800" y="3745905"/>
            <a:ext cx="464344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700" b="1" spc="-11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320800" y="4556125"/>
            <a:ext cx="2585641" cy="1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/ SEMANA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0800" y="5761434"/>
            <a:ext cx="2585641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feed + 2 Reels. Stories diarias adicionales (fuera del cómputo).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31891" y="3123605"/>
            <a:ext cx="3055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4941" y="3434755"/>
            <a:ext cx="25857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04941" y="3745905"/>
            <a:ext cx="464344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700" b="1" spc="-11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4604941" y="4556125"/>
            <a:ext cx="2585740" cy="1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/ SEMANA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04941" y="5521425"/>
            <a:ext cx="258574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de feed, grupos de dominicanos en el exterior y FB Live ocasional.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16130" y="3123605"/>
            <a:ext cx="3055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9181" y="3434755"/>
            <a:ext cx="25857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889181" y="3745905"/>
            <a:ext cx="464344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700" b="1" spc="-11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700" dirty="0"/>
          </a:p>
        </p:txBody>
      </p:sp>
      <p:sp>
        <p:nvSpPr>
          <p:cNvPr id="19" name="Text 17"/>
          <p:cNvSpPr/>
          <p:nvPr/>
        </p:nvSpPr>
        <p:spPr>
          <a:xfrm>
            <a:off x="7889181" y="4556125"/>
            <a:ext cx="2585740" cy="1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/ SEMANA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89181" y="5521425"/>
            <a:ext cx="258574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thought leadership (CONFOTUR/fideicomiso) + 1 spotlight de proyecto.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900371" y="3123605"/>
            <a:ext cx="3055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3420" y="3434755"/>
            <a:ext cx="25857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173420" y="3745905"/>
            <a:ext cx="464344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700" b="1" spc="-11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700" dirty="0"/>
          </a:p>
        </p:txBody>
      </p:sp>
      <p:sp>
        <p:nvSpPr>
          <p:cNvPr id="24" name="Text 22"/>
          <p:cNvSpPr/>
          <p:nvPr/>
        </p:nvSpPr>
        <p:spPr>
          <a:xfrm>
            <a:off x="11173420" y="4556125"/>
            <a:ext cx="2585740" cy="1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/ SEMANA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73420" y="5521425"/>
            <a:ext cx="258574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reactivo regulatorio + 1 explainer + 1 quote/testimonio breve.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4184611" y="3123605"/>
            <a:ext cx="3055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57661" y="3434755"/>
            <a:ext cx="25857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457661" y="3745905"/>
            <a:ext cx="464344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700" b="1" spc="-114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700" dirty="0"/>
          </a:p>
        </p:txBody>
      </p:sp>
      <p:sp>
        <p:nvSpPr>
          <p:cNvPr id="29" name="Text 27"/>
          <p:cNvSpPr/>
          <p:nvPr/>
        </p:nvSpPr>
        <p:spPr>
          <a:xfrm>
            <a:off x="14457661" y="4556125"/>
            <a:ext cx="2585740" cy="1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spc="21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DIARIOS + CANAL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4457661" y="5761434"/>
            <a:ext cx="2585740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diario + canal broadcast. CTA principal de conversión.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47750" y="9690100"/>
            <a:ext cx="47497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· ~21 PUBLICACIONES PROGRAMADAS/SEMANA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30770" y="9690100"/>
            <a:ext cx="454176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CANAL DE CIERRE, NO SOLO DE AVISO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910495" y="419100"/>
            <a:ext cx="240595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TONO &amp; CADENCIA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RASGOS CENTRALES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suena Bolsa Inmobiliaria CIASA.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406082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3066455"/>
            <a:ext cx="16316325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Honesto y basado en datos. </a:t>
            </a:r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Mostramos rendimientos reales (7–21% según perfil), precios concretos, tiempos verificables. No exageramos.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47750" y="5232995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4238625"/>
            <a:ext cx="16316325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Cálido y personal. </a:t>
            </a:r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Hablamos como un dominicano que ya pasó por esto, no como vendedor. Primera persona, segundo nombre.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6405166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5410795"/>
            <a:ext cx="16316325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Aspiracional pero fundamentado. </a:t>
            </a:r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Evitamos "hazte rico rápido". Enfatizamos patrimonio, seguridad familiar y regreso con dignidad.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7577336"/>
            <a:ext cx="161925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3" name="Text 11"/>
          <p:cNvSpPr/>
          <p:nvPr/>
        </p:nvSpPr>
        <p:spPr>
          <a:xfrm>
            <a:off x="1409700" y="6582966"/>
            <a:ext cx="16316325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Transparente en lo legal y fiscal. </a:t>
            </a:r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Desmitificamos CONFOTUR, fideicomiso, BanReservas. No tratamos esos conceptos como jerga.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09700" y="7755136"/>
            <a:ext cx="16316325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Dominicano, no neutralizado. </a:t>
            </a:r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dominicano (ritmo, dichos), no español "internacional" anodino.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50" y="9690100"/>
            <a:ext cx="45369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VOCERO MODELO · PAOLA CARAM (ASESORA REAL)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82589" y="9690100"/>
            <a:ext cx="345839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QUE CIERRA · NO VOZ QUE VENDE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910495" y="419100"/>
            <a:ext cx="240595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TONO &amp; CADENCIA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DECIR / NO DECIR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léxico de la marca.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3307755"/>
            <a:ext cx="7829550" cy="19050"/>
          </a:xfrm>
          <a:prstGeom prst="rect">
            <a:avLst/>
          </a:prstGeom>
          <a:solidFill>
            <a:srgbClr val="7DB33A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95005"/>
            <a:ext cx="806443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7DB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USAR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4218285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3726855"/>
            <a:ext cx="8064437" cy="3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7DB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 casa en RD", "regreso a casa", "patrimonio familiar"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207496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396085"/>
            <a:ext cx="806443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7DB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"dominicano en el exterior" / "ciudadano dominicano residente en el exterior"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196707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385296"/>
            <a:ext cx="806443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7DB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"$225K inicial", "9.7% ROI anual", "15 años exento bajo CONFOTUR"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6865938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6374507"/>
            <a:ext cx="8064437" cy="3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7DB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Voces activas: "Paola cerró 43 operaciones este año"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043738"/>
            <a:ext cx="80644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7DB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por código + región: "CIASA 004 · Cap Cana"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10700" y="3307755"/>
            <a:ext cx="7829550" cy="19050"/>
          </a:xfrm>
          <a:prstGeom prst="rect">
            <a:avLst/>
          </a:prstGeom>
          <a:solidFill>
            <a:srgbClr val="C2453E"/>
          </a:solidFill>
          <a:ln/>
        </p:spPr>
      </p:sp>
      <p:sp>
        <p:nvSpPr>
          <p:cNvPr id="18" name="Text 16"/>
          <p:cNvSpPr/>
          <p:nvPr/>
        </p:nvSpPr>
        <p:spPr>
          <a:xfrm>
            <a:off x="9410700" y="2895005"/>
            <a:ext cx="806443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C2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USAR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410700" y="4218285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0" name="Text 18"/>
          <p:cNvSpPr/>
          <p:nvPr/>
        </p:nvSpPr>
        <p:spPr>
          <a:xfrm>
            <a:off x="9410700" y="3726855"/>
            <a:ext cx="8064437" cy="3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C2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"Diáspora", "diaspórico" — la audiencia rechaza estos términos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10700" y="4887516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2" name="Text 20"/>
          <p:cNvSpPr/>
          <p:nvPr/>
        </p:nvSpPr>
        <p:spPr>
          <a:xfrm>
            <a:off x="9410700" y="4396085"/>
            <a:ext cx="8064437" cy="3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C2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"Paisano" — no se lee como dominicano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10700" y="5556746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4" name="Text 22"/>
          <p:cNvSpPr/>
          <p:nvPr/>
        </p:nvSpPr>
        <p:spPr>
          <a:xfrm>
            <a:off x="9410700" y="5065316"/>
            <a:ext cx="8064437" cy="3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C2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"Dominicano ausente" — paternalista, lastimero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10700" y="6225977"/>
            <a:ext cx="782955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6" name="Text 24"/>
          <p:cNvSpPr/>
          <p:nvPr/>
        </p:nvSpPr>
        <p:spPr>
          <a:xfrm>
            <a:off x="9410700" y="5734546"/>
            <a:ext cx="8064437" cy="3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C2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comerciales de proyectos en social — usar código + región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0700" y="6403777"/>
            <a:ext cx="80644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C2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"Paraíso caribeño", "rendimiento garantizado", "¡oportunidad única!"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47750" y="9690100"/>
            <a:ext cx="23564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NO NEGOCIABLES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97879" y="9690100"/>
            <a:ext cx="498764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COPY CONTRA ESTA LISTA ANTES DE PUBLICAR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910495" y="419100"/>
            <a:ext cx="240595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TONO &amp; CADENCIA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80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047750" y="2743200"/>
            <a:ext cx="1471612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spc="-4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$97K para entrar. 7–9% ROI anual. Fideicomiso del BanReservas. Lo dice el contrato, no nosotros.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455672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COPY APROBADO · CIASA VOICE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47750" y="9690100"/>
            <a:ext cx="344214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PRIMERO · ADJETIVOS AL FINAL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40520" y="9690100"/>
            <a:ext cx="267772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SIGNOS DE EXCLAMACIÓN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484265"/>
            <a:ext cx="16678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05 / 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4093865"/>
            <a:ext cx="15697200" cy="2861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0" b="1" spc="-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de Crisis.</a:t>
            </a:r>
            <a:endParaRPr lang="en-US" sz="11700" dirty="0"/>
          </a:p>
        </p:txBody>
      </p:sp>
      <p:sp>
        <p:nvSpPr>
          <p:cNvPr id="4" name="Shape 2"/>
          <p:cNvSpPr/>
          <p:nvPr/>
        </p:nvSpPr>
        <p:spPr>
          <a:xfrm>
            <a:off x="1047750" y="9429750"/>
            <a:ext cx="26670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12727305" y="9033669"/>
            <a:ext cx="4512945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&gt; silencio. Rapidez &gt; perfección. Responsabilidad &gt; evasión.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108661" y="419100"/>
            <a:ext cx="120779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CRISIS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VENTANAS DE RESPUESTA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Tiempos comprometidos por canal.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2895005"/>
            <a:ext cx="7962900" cy="2223691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390650" y="3276005"/>
            <a:ext cx="749541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· L–V 9:00–18:00 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90650" y="3625255"/>
            <a:ext cx="7495413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respuesta pública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90650" y="4128095"/>
            <a:ext cx="74954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2h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277350" y="2895005"/>
            <a:ext cx="7962900" cy="2223691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9620250" y="3276005"/>
            <a:ext cx="749541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· FUERA DE HORARIO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20250" y="3625255"/>
            <a:ext cx="7495413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respuesta pública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20250" y="4128095"/>
            <a:ext cx="74954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6h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1047750" y="5385396"/>
            <a:ext cx="7962900" cy="2223691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1390650" y="5766396"/>
            <a:ext cx="749541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PRIVADO · WHATSAPP / EMAIL · EN HORARIO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90650" y="6115645"/>
            <a:ext cx="7495413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Acuse personalizado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90650" y="6618486"/>
            <a:ext cx="74954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15m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9277350" y="5385396"/>
            <a:ext cx="7962900" cy="2223691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0" y="5766396"/>
            <a:ext cx="749541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PRIVADO · FUERA DE HORARIO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20250" y="6115645"/>
            <a:ext cx="7495413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Acuse personalizado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20250" y="6618486"/>
            <a:ext cx="74954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2h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047750" y="9690100"/>
            <a:ext cx="501411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· HONESTO, SOBRIO, CENTRADO EN HECHOS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2787" y="9690100"/>
            <a:ext cx="476628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· HUMOR, DEFENSA, RESPUESTAS ENLATADAS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108661" y="419100"/>
            <a:ext cx="120779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CRISIS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DECISIÓN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niveles. Una sola voz pública.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2895005"/>
            <a:ext cx="161925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0800" y="3126780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387600" y="3110905"/>
            <a:ext cx="198120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 de primera línea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97400" y="3210719"/>
            <a:ext cx="1274089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Paola o equipo · respuesta inicial acusando recibo. Nunca borrar crítica legítima.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47750" y="3942755"/>
            <a:ext cx="16192500" cy="8826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0800" y="4158655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387600" y="4263430"/>
            <a:ext cx="19812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97400" y="4242594"/>
            <a:ext cx="1274089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mensaje sustantivo antes de publicarlo en cualquier canal.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4958755"/>
            <a:ext cx="16192500" cy="8826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0800" y="5174655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387600" y="5279430"/>
            <a:ext cx="19812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 legal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97400" y="5258594"/>
            <a:ext cx="1274089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 + compliance EE.UU. — activar siempre que haya riesgo regulatorio o reclamación pública.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7750" y="5974755"/>
            <a:ext cx="16192500" cy="882650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0800" y="6190655"/>
            <a:ext cx="838200" cy="488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387600" y="6295430"/>
            <a:ext cx="19812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BanReservas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597400" y="6274594"/>
            <a:ext cx="12740895" cy="320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ante cualquier duda sobre fideicomiso, financiamiento o desembolso.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7750" y="9690100"/>
            <a:ext cx="51325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REPUTACIONAL / TRENDING · DIRECCIÓN + LEGAL EN &lt; 1H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54807" y="9690100"/>
            <a:ext cx="431100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POST-CRISIS · REVISIÓN SIN CULTURA DE CULPA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19100"/>
            <a:ext cx="172204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CIASA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68924" y="419100"/>
            <a:ext cx="84752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7750" y="914400"/>
            <a:ext cx="16678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· Q2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358900"/>
            <a:ext cx="14716125" cy="659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frentes para arrancar el trimestre.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47750" y="2895005"/>
            <a:ext cx="5194300" cy="6591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9480550"/>
            <a:ext cx="51943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2895005"/>
            <a:ext cx="51943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2895005"/>
            <a:ext cx="9525" cy="659189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0" name="Shape 8"/>
          <p:cNvSpPr/>
          <p:nvPr/>
        </p:nvSpPr>
        <p:spPr>
          <a:xfrm>
            <a:off x="6235700" y="2895005"/>
            <a:ext cx="9525" cy="659189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1" name="Text 9"/>
          <p:cNvSpPr/>
          <p:nvPr/>
        </p:nvSpPr>
        <p:spPr>
          <a:xfrm>
            <a:off x="1397000" y="3333155"/>
            <a:ext cx="46306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· 30 DÍAS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97000" y="3752255"/>
            <a:ext cx="4630674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la Trilogía CIASA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63650" y="4293196"/>
            <a:ext cx="470535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 para Reels, FB y LinkedIn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distribución por plataforma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QR · general + región + proyecto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testimonios verificados publicados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46850" y="2895005"/>
            <a:ext cx="5194300" cy="6591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6850" y="9480550"/>
            <a:ext cx="51943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6850" y="2895005"/>
            <a:ext cx="51943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6850" y="2895005"/>
            <a:ext cx="9525" cy="659189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34801" y="2895005"/>
            <a:ext cx="9525" cy="659189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9" name="Text 17"/>
          <p:cNvSpPr/>
          <p:nvPr/>
        </p:nvSpPr>
        <p:spPr>
          <a:xfrm>
            <a:off x="6896100" y="3333155"/>
            <a:ext cx="46306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· 60 DÍAS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96100" y="3752255"/>
            <a:ext cx="4630674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la red comunitaria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2750" y="4293196"/>
            <a:ext cx="470535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en bodegas, cargo y remesas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NYC tristate + Boston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piezas educativas CONFOTUR/fideicomiso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Calculadoras "$225K → $27K/año"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045951" y="2895005"/>
            <a:ext cx="5194300" cy="6591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45951" y="9480550"/>
            <a:ext cx="5194300" cy="952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45951" y="2895005"/>
            <a:ext cx="5194300" cy="5715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45951" y="2895005"/>
            <a:ext cx="9525" cy="659189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6" name="Shape 24"/>
          <p:cNvSpPr/>
          <p:nvPr/>
        </p:nvSpPr>
        <p:spPr>
          <a:xfrm>
            <a:off x="17233901" y="2895005"/>
            <a:ext cx="9525" cy="659189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27" name="Text 25"/>
          <p:cNvSpPr/>
          <p:nvPr/>
        </p:nvSpPr>
        <p:spPr>
          <a:xfrm>
            <a:off x="12395200" y="3333155"/>
            <a:ext cx="46306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· 90 DÍAS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395200" y="3752255"/>
            <a:ext cx="4630674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24" kern="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 la plataforma a meta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261850" y="4293196"/>
            <a:ext cx="470535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leads cualificados / mes sostenido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 &lt; USD 40 · CAC &lt; USD 800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como canal de cierre principal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semanal del dashboard de KPIs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47750" y="9690100"/>
            <a:ext cx="31634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BOLSA INMOBILIARIA CIASA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119053" y="9690100"/>
            <a:ext cx="219739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· ABRIL — JUNIO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047750"/>
            <a:ext cx="831236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Q2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52500" y="3336429"/>
            <a:ext cx="8094482" cy="14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900" b="1" spc="-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ruta a casa</a:t>
            </a:r>
            <a:endParaRPr lang="en-US" sz="9900" dirty="0"/>
          </a:p>
        </p:txBody>
      </p:sp>
      <p:sp>
        <p:nvSpPr>
          <p:cNvPr id="4" name="Text 2"/>
          <p:cNvSpPr/>
          <p:nvPr/>
        </p:nvSpPr>
        <p:spPr>
          <a:xfrm>
            <a:off x="952500" y="4645025"/>
            <a:ext cx="8312363" cy="1245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900" b="1" spc="-297" kern="0" dirty="0">
                <a:solidFill>
                  <a:srgbClr val="7DB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aquí.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952500" y="8045450"/>
            <a:ext cx="102155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8324850"/>
            <a:ext cx="221198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 Inmobiliaria CIASA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850283" y="8045450"/>
            <a:ext cx="62021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850283" y="8324850"/>
            <a:ext cx="25928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Honesta · cálida · dominicana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28967" y="8045450"/>
            <a:ext cx="96361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128967" y="8324850"/>
            <a:ext cx="196998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cierre real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975255" y="0"/>
            <a:ext cx="8312646" cy="10287000"/>
          </a:xfrm>
          <a:prstGeom prst="rect">
            <a:avLst/>
          </a:prstGeom>
          <a:solidFill>
            <a:srgbClr val="7DB3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46755" y="8143875"/>
            <a:ext cx="3084663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proyectos. 6 regiones.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546755" y="8503841"/>
            <a:ext cx="7054849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plataforma para que el dominicano en el exterior invierta en casa con datos, ley y dignidad.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546755" y="9293622"/>
            <a:ext cx="7384735" cy="269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spc="216" kern="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COMPROMISO DEL TRIMESTRE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2026-05-07T17:47:50Z</dcterms:created>
  <dcterms:modified xsi:type="dcterms:W3CDTF">2026-05-07T17:47:50Z</dcterms:modified>
</cp:coreProperties>
</file>